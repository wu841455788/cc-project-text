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营业总收入(千亿)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5.36</c:v>
                </c:pt>
                <c:pt idx="1">
                  <c:v>6.21</c:v>
                </c:pt>
                <c:pt idx="2">
                  <c:v>6.69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保险服务收入(千亿)</c:v>
                </c:pt>
              </c:strCache>
            </c:strRef>
          </c:tx>
          <c:spPr>
            <a:solidFill>
              <a:srgbClr val="DD6B2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4.68</c:v>
                </c:pt>
                <c:pt idx="1">
                  <c:v>5.38</c:v>
                </c:pt>
                <c:pt idx="2">
                  <c:v>5.71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原保费收入(千亿)</c:v>
                </c:pt>
              </c:strCache>
            </c:strRef>
          </c:tx>
          <c:spPr>
            <a:solidFill>
              <a:srgbClr val="3182CE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6.05</c:v>
                </c:pt>
                <c:pt idx="1">
                  <c:v>6.93</c:v>
                </c:pt>
                <c:pt idx="2">
                  <c:v>7.38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  <c:txPr>
        <a:bodyPr/>
        <a:lstStyle/>
        <a:p>
          <a:pPr>
            <a:defRPr sz="800">
              <a:solidFill>
                <a:srgbClr val="94A3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保障额度（万亿元）</c:v>
                </c:pt>
              </c:strCache>
            </c:strRef>
          </c:tx>
          <c:spPr>
            <a:solidFill>
              <a:srgbClr val="DD6B2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</c:v>
                </c:pt>
                <c:pt idx="1">
                  <c:v>3.77</c:v>
                </c:pt>
                <c:pt idx="2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赔款支出（亿元）</c:v>
                </c:pt>
              </c:strCache>
            </c:strRef>
          </c:tx>
          <c:spPr>
            <a:solidFill>
              <a:srgbClr val="E53E3E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18.5</c:v>
                </c:pt>
                <c:pt idx="1">
                  <c:v>22.3</c:v>
                </c:pt>
                <c:pt idx="2">
                  <c:v>26.06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中国人保海南分公司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2025–2026 业务情况报告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数据来源：中国人保集团年报 · 南海网 · 南国都市报 · 同花顺等公开信息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报告日期：2026 年 6 月 7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54864" cy="1828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68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集团 2025 年度核心数据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集团 2026 年一季度概况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海南分公司 2025 年度业绩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业务创新与"五向图强"战略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2026 年最新动态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2026 理赔服务升级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8521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85215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Microsoft YaHei"/>
              </a:defRPr>
            </a:pPr>
            <a:r>
              <a:t>数据来源与说明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一、中国人保集团 2025 年度核心数据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年报发布于 2026 年 3 月 26 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营业总收入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6,690 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↑ 7.6%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保险服务收入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5,707 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↑ 6.1%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原保费收入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7,383 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↑ 6.5%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归母净利润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466 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↑ 8.8%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20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总资产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2.03 万亿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↑ 14.8%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38328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3520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财险市场份额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31.6%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行业首位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38328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总投资收益率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38328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520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人保财险 COR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840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持续优化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承保向好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548640" y="5120640"/>
          <a:ext cx="1097280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二、中国人保集团 2026 年一季度概况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📊 2026 Q1 关键指标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保险服务收入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48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行业首位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↑ 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净利润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约 88 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53E3E"/>
                </a:solidFill>
                <a:latin typeface="Microsoft YaHei"/>
              </a:defRPr>
            </a:pPr>
            <a:r>
              <a:t>↓ 31%（投资端承压）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承保端 COR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持续优化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高价值业务占比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不断提升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新业务价值 (NBV)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稳步增长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77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A169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530352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⚠ 关键解读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利润下滑主因：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一季度净利润下降 31%，主要受资本市场波动影响，投资端收益承压。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94A3B8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承保端表现向好：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保险服务收入仍保持正增长（+2%），综合成本率（COR）持续优化，主业盈利能力稳健。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94A3B8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200" b="1">
                <a:solidFill>
                  <a:srgbClr val="94A3B8"/>
                </a:solidFill>
                <a:latin typeface="Microsoft YaHei"/>
              </a:defRPr>
            </a:pPr>
            <a:r>
              <a:t>结构优化：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高价值业务占比不断提升，新业务价值（NBV）稳步增长，业务质量持续改善。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663440"/>
            <a:ext cx="1106424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背景补充：集团层面 vs 海南分公司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中国人保海南分公司作为省级分支机构，不单独发布年度报告，其经营数据纳入人保财险合并报表。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集团年报中不披露省分公司维度的保费收入、利润等财务指标——省级分公司数据仅能通过官方新闻、媒体报道等渠道获取。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因此，本报告前两部分聚焦集团整体表现，第三部分起聚焦海南分公司可获取的公开数据。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三、海南分公司 2025 年度业绩概览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数据来源：南海网、南国都市报等官方媒体报道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累计提供保障额度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4.3 万亿元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↑ 14%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累计支付赔款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26.06 亿元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巨灾保险年保障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 亿元/年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5 年周期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1463040"/>
            <a:ext cx="2560320" cy="1645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新能源汽车承保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920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9 万+ 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514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1064240" cy="3200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914400" y="3566160"/>
          <a:ext cx="1033272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四、业务创新与"五向图强"战略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向种图强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创新"粮保宝"项目</a:t>
            </a:r>
            <a:br/>
            <a:r>
              <a:t>卫星遥感 + 气象预警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向海图强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全国首单"风险共担"</a:t>
            </a:r>
            <a:br/>
            <a:r>
              <a:t>海洋试验设备保险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46304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9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向天图强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牵头成立</a:t>
            </a:r>
            <a:br/>
            <a:r>
              <a:t>海南商业火箭发射共保体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向绿图强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光伏项目 25 个</a:t>
            </a:r>
            <a:br/>
            <a:r>
              <a:t>保障额度 8.8 亿元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46304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1600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2E8F0"/>
                </a:solidFill>
                <a:latin typeface="Microsoft YaHei"/>
              </a:defRPr>
            </a:pPr>
            <a: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向数图强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5603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数字资产 / 知识产权</a:t>
            </a:r>
            <a:br/>
            <a:r>
              <a:t>互联网专属产品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06240"/>
            <a:ext cx="1106424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🏆 其他重要创新成果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846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巨灾保险首席承保人：牵头 14 家行业主体承保海南省巨灾保险，覆盖台风、洪水、暴雨等自然灾害，5 年周期，每年保障额度 10 亿元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303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230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跨境"商旅保"：2025 年 12 月落地自贸港跨境商旅保险，为外籍人士提供保障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144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6144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全省首单版权侵权保险：签发全省首单版权被侵权费用损失保险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98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A169"/>
                </a:solidFill>
                <a:latin typeface="Microsoft YaHei"/>
              </a:defRPr>
            </a:pPr>
            <a: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99846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自贸港金融开放样板：持续探索自贸港特色保险产品创新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五、2026 年最新动态</a:t>
            </a:r>
          </a:p>
        </p:txBody>
      </p:sp>
      <p:sp>
        <p:nvSpPr>
          <p:cNvPr id="4" name="Oval 3"/>
          <p:cNvSpPr/>
          <p:nvPr/>
        </p:nvSpPr>
        <p:spPr>
          <a:xfrm>
            <a:off x="1005840" y="1554480"/>
            <a:ext cx="164592" cy="164592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60704" y="1783080"/>
            <a:ext cx="36576" cy="822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1463040"/>
            <a:ext cx="100584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2026 年 2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9202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发布《农业保险承保理赔指引》，规范种植业、养殖业承保与理赔全流程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2834640"/>
            <a:ext cx="164592" cy="164592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" y="3063240"/>
            <a:ext cx="36576" cy="822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63040" y="2743200"/>
            <a:ext cx="100584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834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2026 年 3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集团发布 2025 年度报告：总资产突破 2 万亿，净利润增长 8.8%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4114800"/>
            <a:ext cx="164592" cy="164592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4" y="4343400"/>
            <a:ext cx="36576" cy="8229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023360"/>
            <a:ext cx="100584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2026 年 4 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805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集团发布一季度报告：保险服务收入增 2%，投资端承压致利润降 31%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5394959"/>
            <a:ext cx="164592" cy="164592"/>
          </a:xfrm>
          <a:prstGeom prst="ellipse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5303519"/>
            <a:ext cx="100584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53949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2026 年 5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76071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海南分公司客户节启动 + 全国"理赔明白卡"上线：覆盖车险/非车险/农险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六、2026 理赔服务升级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🔍 理赔"五亮"服务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E3E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亮身份：主动告知服务人员信息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414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E3E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亮过程：理赔进展全程可视可溯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E3E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25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亮指南：清晰指引每一步操作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E3E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095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亮资质：展示服务团队专业能力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1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53E3E"/>
                </a:solidFill>
                <a:latin typeface="Microsoft YaHei"/>
              </a:defRPr>
            </a:pPr>
            <a:r>
              <a:t>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5935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亮评价：客户可实时反馈评价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2743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📋 "理赔明白卡"服务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57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车险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057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事故场景理赔步骤，点击即获取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560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非车险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2560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医疗/意外/学幼/家财/责任险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063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D6B20"/>
                </a:solidFill>
                <a:latin typeface="Microsoft YaHei"/>
              </a:defRPr>
            </a:pPr>
            <a:r>
              <a:t>农险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063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养殖险+种植险，灾害高效理赔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572000"/>
            <a:ext cx="11064240" cy="2011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🎉 2026 年客户节（5 月 18 日启动）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206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Microsoft YaHei"/>
              </a:defRPr>
            </a:pPr>
            <a:r>
              <a:t>主题："倾听您的心声  服务您的需求"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核心升级：推出"明白赔"功能，理赔全程可视可溯，客户可随时查看案件流程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同步活动：全省理赔服务体验官招募、风险减量及金融消保知识普及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出席领导：人保海南省分公司党委委员、副总经理朱朝晖致辞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1645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七、数据来源与说明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中国人保 2026 年一季度报告 — 东方财富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https://finance.eastmoney.com/a/202604293724878672.html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中国人保 2025 年度报告分析 — 新浪财经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31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https://finance.sina.com.cn/stock/relnews/hk/2026-03-27/doc-inhsmamt9585424.shtml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517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创新保险供给 探索自贸港金融开放样板 — 南国都市报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http://szb.ngdsb.cn/h5/html5/2026-01/04/content_58870_19189047.htm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54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人保财险海南省分公司专题报道 — 南海网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375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https://v.hinews.cn/xinwen/show-1525316.html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657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人保财险海南省分公司 2026 年客户节 — 新海南客户端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https://www.hinews.cn/page?n=2824750&amp;m=1&amp;s=1044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160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人保财险推出"理赔明白卡"服务 — 同花顺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343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http://stock.10jqka.com.cn/20260518/c676760457.shtml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63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PICC Q1 2026 Earnings Review — Futu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463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https://news.futunn.com/en/post/72375580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53E3E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166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Microsoft YaHei"/>
              </a:defRPr>
            </a:pPr>
            <a:r>
              <a:t>PICC profit rises 26% — Insurance Asia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349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Microsoft YaHei"/>
              </a:defRPr>
            </a:pPr>
            <a:r>
              <a:t>https://insuranceasia.com/insurance/news/picc-profit-rises-26-growth-set-ease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6AD55"/>
                </a:solidFill>
                <a:latin typeface="Microsoft YaHei"/>
              </a:defRPr>
            </a:pPr>
            <a:r>
              <a:t>⚠ 说明：海南分公司作为省级分支机构不单独发年报，数据来自官方新闻披露。部分 2026 年数据截至 Q1。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54864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中国人保海南分公司 2025–2026 业务情况报告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本报告基于公开信息整理，不构成投资建议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